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9" r:id="rId9"/>
    <p:sldId id="262" r:id="rId10"/>
    <p:sldId id="263" r:id="rId11"/>
    <p:sldId id="264" r:id="rId12"/>
    <p:sldId id="266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30DB08-24F4-4495-8EF8-DF8254EB26A3}">
          <p14:sldIdLst>
            <p14:sldId id="256"/>
            <p14:sldId id="257"/>
            <p14:sldId id="258"/>
            <p14:sldId id="259"/>
            <p14:sldId id="268"/>
            <p14:sldId id="260"/>
            <p14:sldId id="261"/>
            <p14:sldId id="269"/>
            <p14:sldId id="262"/>
            <p14:sldId id="263"/>
            <p14:sldId id="264"/>
          </p14:sldIdLst>
        </p14:section>
        <p14:section name="Untitled Section" id="{18C83763-6C8D-4B0F-80F4-76A39ECF8651}">
          <p14:sldIdLst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363" y="31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121EC-773B-4C0D-9EE4-1A56EFDDE1E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F0DCD-FBB0-464B-A0BF-7D2C6D045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32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0DCD-FBB0-464B-A0BF-7D2C6D04566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756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796" y="1122363"/>
            <a:ext cx="10364411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3796" y="3602038"/>
            <a:ext cx="1036441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4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8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8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40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6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7" y="609602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21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21"/>
            <a:ext cx="5094155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4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7" y="609602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0569" y="2088320"/>
            <a:ext cx="4800435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974" y="2088320"/>
            <a:ext cx="478858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0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0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5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5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2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8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9" y="609600"/>
            <a:ext cx="5556804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9910" y="758881"/>
            <a:ext cx="3955917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971800"/>
            <a:ext cx="5561656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7" y="4289374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7" y="621323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5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2"/>
            <a:ext cx="10353763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54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3" y="4204821"/>
            <a:ext cx="10353763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73660" y="6417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5628" y="307337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9078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7" y="2126944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77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3" y="609602"/>
            <a:ext cx="1035376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88321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9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7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2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2"/>
            <a:ext cx="1035376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6" y="3989147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092235"/>
            <a:ext cx="2940051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6" y="4565409"/>
            <a:ext cx="3298955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2" y="3989147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092235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565408"/>
            <a:ext cx="330033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3989147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5" y="2092235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7" y="4565410"/>
            <a:ext cx="3294259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62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3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09601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601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4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7" y="609602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3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6" y="5883277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7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908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8721" y="978116"/>
            <a:ext cx="8014834" cy="1049235"/>
          </a:xfrm>
        </p:spPr>
        <p:txBody>
          <a:bodyPr/>
          <a:lstStyle/>
          <a:p>
            <a:r>
              <a:rPr sz="2000" dirty="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  <a:t>POWER BI PROJECT</a:t>
            </a:r>
            <a:br>
              <a:rPr lang="en-IN" sz="2000" dirty="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</a:br>
            <a:endParaRPr sz="2000" dirty="0">
              <a:solidFill>
                <a:schemeClr val="tx1">
                  <a:lumMod val="95000"/>
                </a:schemeClr>
              </a:solidFill>
              <a:latin typeface="Baskerville Old Face" panose="02020602080505020303" pitchFamily="18" charset="0"/>
            </a:endParaRPr>
          </a:p>
          <a:p>
            <a:r>
              <a:rPr sz="2000" dirty="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  <a:t>HR </a:t>
            </a:r>
            <a:r>
              <a:rPr lang="en-IN" sz="2000" dirty="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sz="2000" dirty="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  <a:t>Attrition &amp; Employee Overview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1" y="2423160"/>
            <a:ext cx="8014834" cy="2011680"/>
          </a:xfrm>
        </p:spPr>
        <p:txBody>
          <a:bodyPr/>
          <a:lstStyle/>
          <a:p>
            <a:r>
              <a:rPr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Summer Training — Power BI</a:t>
            </a:r>
          </a:p>
          <a:p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CGC UNIVERSITY MOHALI</a:t>
            </a:r>
          </a:p>
          <a:p>
            <a:r>
              <a:rPr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Presented by: Ravish Sharma</a:t>
            </a:r>
          </a:p>
          <a:p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B.Tech CSE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ADC154-0AF1-847E-B361-5ECA59C34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36"/>
            <a:ext cx="3051750" cy="795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DCE01D-3CBB-61E8-D825-DEA99F9303A6}"/>
              </a:ext>
            </a:extLst>
          </p:cNvPr>
          <p:cNvSpPr txBox="1"/>
          <p:nvPr/>
        </p:nvSpPr>
        <p:spPr>
          <a:xfrm>
            <a:off x="1520251" y="5657672"/>
            <a:ext cx="9121081" cy="120032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Presented by 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:</a:t>
            </a:r>
            <a:r>
              <a:rPr lang="en-IN" dirty="0"/>
              <a:t>		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Course :				Guided By :					Date :</a:t>
            </a:r>
          </a:p>
          <a:p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Ravish Sharma</a:t>
            </a:r>
            <a:r>
              <a:rPr lang="en-IN" dirty="0"/>
              <a:t>	        </a:t>
            </a: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B.Tech – CSE</a:t>
            </a:r>
            <a:r>
              <a:rPr lang="en-IN" dirty="0"/>
              <a:t>		           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Mrs. Ashima &amp; 			   </a:t>
            </a:r>
            <a:r>
              <a:rPr lang="en-IN" dirty="0"/>
              <a:t> </a:t>
            </a:r>
            <a:r>
              <a:rPr lang="en-IN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02-07-2026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2419361									   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Mrs. Mandeep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723">
        <p:fade/>
      </p:transition>
    </mc:Choice>
    <mc:Fallback xmlns="">
      <p:transition spd="med" advTm="2723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7" y="1222311"/>
            <a:ext cx="6571344" cy="425570"/>
          </a:xfrm>
        </p:spPr>
        <p:txBody>
          <a:bodyPr>
            <a:noAutofit/>
          </a:bodyPr>
          <a:lstStyle/>
          <a:p>
            <a:pPr algn="ctr"/>
            <a:r>
              <a:rPr sz="2800" i="1" dirty="0">
                <a:solidFill>
                  <a:schemeClr val="tx1">
                    <a:lumMod val="85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1" y="2015733"/>
            <a:ext cx="8014834" cy="406097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Problem Statement &amp; Objective</a:t>
            </a:r>
            <a:endParaRPr lang="en-IN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Dataset Overview				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Data Cleaning using Power Query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Data Model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DAX Measures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Dashboard Walkthrough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Key Insights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Challenges &amp; Learnings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BD1D2-279C-6B2C-16D7-44919A332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" y="11835"/>
            <a:ext cx="3051750" cy="7957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7493" y="1317971"/>
            <a:ext cx="6571343" cy="400111"/>
          </a:xfrm>
        </p:spPr>
        <p:txBody>
          <a:bodyPr/>
          <a:lstStyle/>
          <a:p>
            <a:r>
              <a:rPr sz="2000" dirty="0">
                <a:solidFill>
                  <a:schemeClr val="tx1">
                    <a:lumMod val="85000"/>
                  </a:schemeClr>
                </a:solidFill>
              </a:rPr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0251" y="3009418"/>
            <a:ext cx="8018584" cy="3125164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Objectives: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Identify high attrition departments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Analyze age group turnover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Build interactive HR dashboard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Support data-driven decisions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987D7D-81F7-A400-457E-040835F3A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97556" cy="795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6B3721-4B39-C854-2CB6-34E86DD25DC7}"/>
              </a:ext>
            </a:extLst>
          </p:cNvPr>
          <p:cNvSpPr txBox="1"/>
          <p:nvPr/>
        </p:nvSpPr>
        <p:spPr>
          <a:xfrm rot="10800000" flipH="1" flipV="1">
            <a:off x="1681163" y="2231535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1. </a:t>
            </a: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HR team needs a visual solution to analyze employee turnover.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dirty="0">
                <a:solidFill>
                  <a:schemeClr val="tx1">
                    <a:lumMod val="85000"/>
                  </a:schemeClr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Dataset: </a:t>
            </a:r>
            <a:r>
              <a:rPr dirty="0"/>
              <a:t>IBM HR Analytics Dataset</a:t>
            </a:r>
            <a:endParaRPr lang="en-IN" dirty="0"/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Rows: </a:t>
            </a:r>
            <a:r>
              <a:rPr dirty="0"/>
              <a:t>1,470 employees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Format: </a:t>
            </a:r>
            <a:r>
              <a:rPr dirty="0"/>
              <a:t>CSV</a:t>
            </a:r>
            <a:endParaRPr lang="en-IN" dirty="0"/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Key Fields:</a:t>
            </a: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</a:t>
            </a:r>
            <a:r>
              <a:rPr dirty="0"/>
              <a:t>Age, Department, Attrition, Job Role, Monthly Income, Gender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FA99B0-A3FF-7A81-BB69-D572D8461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76215" cy="795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595C61-2DBB-6A2C-0EDF-8101E69374ED}"/>
              </a:ext>
            </a:extLst>
          </p:cNvPr>
          <p:cNvSpPr/>
          <p:nvPr/>
        </p:nvSpPr>
        <p:spPr>
          <a:xfrm>
            <a:off x="1475330" y="0"/>
            <a:ext cx="3391638" cy="781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A8853E-9D1A-F1B2-C8B3-E25D9C4F7C1B}"/>
              </a:ext>
            </a:extLst>
          </p:cNvPr>
          <p:cNvSpPr/>
          <p:nvPr/>
        </p:nvSpPr>
        <p:spPr>
          <a:xfrm>
            <a:off x="1722710" y="797176"/>
            <a:ext cx="8229600" cy="556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4FF4B3A-631C-3D56-3C29-798DEC51757F}"/>
              </a:ext>
            </a:extLst>
          </p:cNvPr>
          <p:cNvSpPr/>
          <p:nvPr/>
        </p:nvSpPr>
        <p:spPr>
          <a:xfrm>
            <a:off x="1859378" y="1441651"/>
            <a:ext cx="1920240" cy="1629486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7DF247-88DA-C5EA-22E7-2D665D100401}"/>
              </a:ext>
            </a:extLst>
          </p:cNvPr>
          <p:cNvSpPr/>
          <p:nvPr/>
        </p:nvSpPr>
        <p:spPr>
          <a:xfrm>
            <a:off x="1964534" y="1478101"/>
            <a:ext cx="1737360" cy="1146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B6F4BE-2F74-A701-19F8-EB4DD6731B68}"/>
              </a:ext>
            </a:extLst>
          </p:cNvPr>
          <p:cNvSpPr/>
          <p:nvPr/>
        </p:nvSpPr>
        <p:spPr>
          <a:xfrm>
            <a:off x="1932530" y="2417609"/>
            <a:ext cx="1737360" cy="76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7A6E9E-FEFD-5719-0886-517DFB091F3A}"/>
              </a:ext>
            </a:extLst>
          </p:cNvPr>
          <p:cNvSpPr/>
          <p:nvPr/>
        </p:nvSpPr>
        <p:spPr>
          <a:xfrm>
            <a:off x="4062249" y="1420276"/>
            <a:ext cx="1920240" cy="1654731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0769526-A5A5-6981-3EEF-1414A56E23ED}"/>
              </a:ext>
            </a:extLst>
          </p:cNvPr>
          <p:cNvSpPr/>
          <p:nvPr/>
        </p:nvSpPr>
        <p:spPr>
          <a:xfrm>
            <a:off x="4161255" y="1490630"/>
            <a:ext cx="173736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3F9BBA9-F456-4DD7-72B8-21539BA56D2D}"/>
              </a:ext>
            </a:extLst>
          </p:cNvPr>
          <p:cNvSpPr/>
          <p:nvPr/>
        </p:nvSpPr>
        <p:spPr>
          <a:xfrm>
            <a:off x="4142676" y="2405940"/>
            <a:ext cx="1737360" cy="762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DE86351-9067-B747-9840-DCD1E97FD75F}"/>
              </a:ext>
            </a:extLst>
          </p:cNvPr>
          <p:cNvSpPr/>
          <p:nvPr/>
        </p:nvSpPr>
        <p:spPr>
          <a:xfrm>
            <a:off x="6188229" y="1399779"/>
            <a:ext cx="1920240" cy="1672783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4CDB52B-EB0A-EBE5-4011-6F84A8242B0E}"/>
              </a:ext>
            </a:extLst>
          </p:cNvPr>
          <p:cNvSpPr/>
          <p:nvPr/>
        </p:nvSpPr>
        <p:spPr>
          <a:xfrm>
            <a:off x="6288619" y="1499992"/>
            <a:ext cx="173736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1470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94276A-003E-64B4-4898-C72FE7259C95}"/>
              </a:ext>
            </a:extLst>
          </p:cNvPr>
          <p:cNvSpPr/>
          <p:nvPr/>
        </p:nvSpPr>
        <p:spPr>
          <a:xfrm>
            <a:off x="6272191" y="2381474"/>
            <a:ext cx="1737360" cy="762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63F990B-7A7C-B44B-B256-68715F55EEE4}"/>
              </a:ext>
            </a:extLst>
          </p:cNvPr>
          <p:cNvSpPr/>
          <p:nvPr/>
        </p:nvSpPr>
        <p:spPr>
          <a:xfrm>
            <a:off x="8307226" y="1405995"/>
            <a:ext cx="1920240" cy="1683292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69FA45B-BD9D-0F85-CC4E-43E3C4894A1D}"/>
              </a:ext>
            </a:extLst>
          </p:cNvPr>
          <p:cNvSpPr/>
          <p:nvPr/>
        </p:nvSpPr>
        <p:spPr>
          <a:xfrm>
            <a:off x="8398171" y="1441651"/>
            <a:ext cx="173736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35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CCF1293-4C3F-E8AF-3811-9CAC73566CC4}"/>
              </a:ext>
            </a:extLst>
          </p:cNvPr>
          <p:cNvSpPr/>
          <p:nvPr/>
        </p:nvSpPr>
        <p:spPr>
          <a:xfrm>
            <a:off x="8398666" y="2399885"/>
            <a:ext cx="1737360" cy="762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85AC022-3EAC-BBDD-8577-A3722A48FCDE}"/>
              </a:ext>
            </a:extLst>
          </p:cNvPr>
          <p:cNvSpPr/>
          <p:nvPr/>
        </p:nvSpPr>
        <p:spPr>
          <a:xfrm>
            <a:off x="1722710" y="3071138"/>
            <a:ext cx="4572000" cy="762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300" dirty="0">
              <a:solidFill>
                <a:schemeClr val="tx1">
                  <a:lumMod val="95000"/>
                </a:schemeClr>
              </a:solidFill>
            </a:endParaRP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EDED6EF5-92D9-C9F8-F8B2-47BFE58A2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07281"/>
              </p:ext>
            </p:extLst>
          </p:nvPr>
        </p:nvGraphicFramePr>
        <p:xfrm>
          <a:off x="1773838" y="3725738"/>
          <a:ext cx="5029200" cy="272024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for each Employee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age group and attrition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Target column to analyze employee turnover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wise attrition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At 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Retention / Experience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8AEC9E15-EF54-41B7-3D51-100954B80A8E}"/>
              </a:ext>
            </a:extLst>
          </p:cNvPr>
          <p:cNvSpPr/>
          <p:nvPr/>
        </p:nvSpPr>
        <p:spPr>
          <a:xfrm>
            <a:off x="7027066" y="3280063"/>
            <a:ext cx="3200400" cy="762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Steps (Power Query)</a:t>
            </a:r>
            <a:endParaRPr lang="en-US" sz="13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A07EF9D-5E61-D66A-64E6-6AB298508748}"/>
              </a:ext>
            </a:extLst>
          </p:cNvPr>
          <p:cNvSpPr/>
          <p:nvPr/>
        </p:nvSpPr>
        <p:spPr>
          <a:xfrm>
            <a:off x="7144610" y="5203601"/>
            <a:ext cx="164592" cy="47914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00E67C2-2C74-6982-B4F1-BC0113DEB514}"/>
              </a:ext>
            </a:extLst>
          </p:cNvPr>
          <p:cNvSpPr/>
          <p:nvPr/>
        </p:nvSpPr>
        <p:spPr>
          <a:xfrm>
            <a:off x="7409786" y="3591351"/>
            <a:ext cx="3017520" cy="721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rows</a:t>
            </a:r>
            <a:endParaRPr lang="en-US" sz="105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0060B584-9286-0405-BC96-4DD82A2484E1}"/>
              </a:ext>
            </a:extLst>
          </p:cNvPr>
          <p:cNvSpPr/>
          <p:nvPr/>
        </p:nvSpPr>
        <p:spPr>
          <a:xfrm>
            <a:off x="7144610" y="5649816"/>
            <a:ext cx="164592" cy="47914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02A3486-5F68-509C-8864-D6CDE9141930}"/>
              </a:ext>
            </a:extLst>
          </p:cNvPr>
          <p:cNvSpPr/>
          <p:nvPr/>
        </p:nvSpPr>
        <p:spPr>
          <a:xfrm>
            <a:off x="7426452" y="4979119"/>
            <a:ext cx="3017520" cy="762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 Group And Salary Categories</a:t>
            </a:r>
            <a:endParaRPr lang="en-US" sz="105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902DCDD-19CC-0CBB-AEBE-E87A9D53F057}"/>
              </a:ext>
            </a:extLst>
          </p:cNvPr>
          <p:cNvSpPr/>
          <p:nvPr/>
        </p:nvSpPr>
        <p:spPr>
          <a:xfrm>
            <a:off x="7144610" y="3855110"/>
            <a:ext cx="164592" cy="47914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38C3654-F3D6-71FE-7207-DBCEC91C182B}"/>
              </a:ext>
            </a:extLst>
          </p:cNvPr>
          <p:cNvSpPr/>
          <p:nvPr/>
        </p:nvSpPr>
        <p:spPr>
          <a:xfrm>
            <a:off x="7418930" y="5358009"/>
            <a:ext cx="3017520" cy="762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Filtered Invalid Records</a:t>
            </a:r>
            <a:endParaRPr lang="en-US" sz="105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A60EF59-A697-B6E0-9D58-FB7FF71E8D35}"/>
              </a:ext>
            </a:extLst>
          </p:cNvPr>
          <p:cNvSpPr/>
          <p:nvPr/>
        </p:nvSpPr>
        <p:spPr>
          <a:xfrm>
            <a:off x="7144610" y="4202582"/>
            <a:ext cx="164592" cy="47914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572AE410-707A-E97B-F6E2-B1F20C00B474}"/>
              </a:ext>
            </a:extLst>
          </p:cNvPr>
          <p:cNvSpPr/>
          <p:nvPr/>
        </p:nvSpPr>
        <p:spPr>
          <a:xfrm>
            <a:off x="7433974" y="3922252"/>
            <a:ext cx="3017520" cy="762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</a:t>
            </a:r>
            <a:endParaRPr lang="en-US" sz="105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A5A3E868-5E3A-C9A7-B2D4-C0C5B04ACD46}"/>
              </a:ext>
            </a:extLst>
          </p:cNvPr>
          <p:cNvSpPr/>
          <p:nvPr/>
        </p:nvSpPr>
        <p:spPr>
          <a:xfrm>
            <a:off x="7144610" y="4550054"/>
            <a:ext cx="164592" cy="47914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87B837F-879B-796B-2CB6-0F0A9908DB3C}"/>
              </a:ext>
            </a:extLst>
          </p:cNvPr>
          <p:cNvSpPr/>
          <p:nvPr/>
        </p:nvSpPr>
        <p:spPr>
          <a:xfrm>
            <a:off x="7441496" y="4249841"/>
            <a:ext cx="3017520" cy="762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tx1">
                    <a:lumMod val="95000"/>
                  </a:schemeClr>
                </a:solidFill>
              </a:rPr>
              <a:t>Changed Data Type</a:t>
            </a: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196943FD-E14D-9C0A-8CA3-17836347B2F0}"/>
              </a:ext>
            </a:extLst>
          </p:cNvPr>
          <p:cNvSpPr/>
          <p:nvPr/>
        </p:nvSpPr>
        <p:spPr>
          <a:xfrm>
            <a:off x="7144610" y="4897526"/>
            <a:ext cx="164592" cy="47914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1071988-8416-17B4-2778-68359EDFA66D}"/>
              </a:ext>
            </a:extLst>
          </p:cNvPr>
          <p:cNvSpPr/>
          <p:nvPr/>
        </p:nvSpPr>
        <p:spPr>
          <a:xfrm>
            <a:off x="7426452" y="4626449"/>
            <a:ext cx="3017520" cy="762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</a:t>
            </a:r>
            <a:r>
              <a:rPr lang="en-US" sz="1050" dirty="0" err="1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Coloumns</a:t>
            </a:r>
            <a:r>
              <a:rPr lang="en-US" sz="105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Better </a:t>
            </a:r>
            <a:r>
              <a:rPr lang="en-US" sz="1050" dirty="0" err="1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Undestanding</a:t>
            </a:r>
            <a:endParaRPr lang="en-US" sz="105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1B6A9DB0-A0BB-93C6-935E-D922C8C779CC}"/>
              </a:ext>
            </a:extLst>
          </p:cNvPr>
          <p:cNvSpPr/>
          <p:nvPr/>
        </p:nvSpPr>
        <p:spPr>
          <a:xfrm>
            <a:off x="9522050" y="5116484"/>
            <a:ext cx="914400" cy="653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D8080BA-8EC6-5C6E-DFBC-215332F30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" y="-20442"/>
            <a:ext cx="3391638" cy="73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60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dirty="0">
                <a:solidFill>
                  <a:schemeClr val="tx1">
                    <a:lumMod val="85000"/>
                  </a:schemeClr>
                </a:solidFill>
              </a:rPr>
              <a:t>Power Query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Performed data preparation: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90000"/>
                  </a:schemeClr>
                </a:solidFill>
              </a:rPr>
              <a:t>Checked For </a:t>
            </a:r>
            <a:r>
              <a:rPr dirty="0">
                <a:solidFill>
                  <a:schemeClr val="tx2">
                    <a:lumMod val="90000"/>
                  </a:schemeClr>
                </a:solidFill>
              </a:rPr>
              <a:t>unnecessary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90000"/>
                  </a:schemeClr>
                </a:solidFill>
              </a:rPr>
              <a:t>Checked missing values</a:t>
            </a:r>
            <a:endParaRPr lang="en-IN" dirty="0">
              <a:solidFill>
                <a:schemeClr val="tx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90000"/>
                  </a:schemeClr>
                </a:solidFill>
              </a:rPr>
              <a:t>Created Age Group </a:t>
            </a:r>
            <a:endParaRPr lang="en-IN" dirty="0">
              <a:solidFill>
                <a:schemeClr val="tx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90000"/>
                  </a:schemeClr>
                </a:solidFill>
              </a:rPr>
              <a:t>Created </a:t>
            </a:r>
            <a:r>
              <a:rPr dirty="0">
                <a:solidFill>
                  <a:schemeClr val="tx2">
                    <a:lumMod val="90000"/>
                  </a:schemeClr>
                </a:solidFill>
              </a:rPr>
              <a:t>Salary Group columns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C69E71-7DAF-D5B3-4D9C-0231045AD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27053" cy="795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dirty="0">
                <a:solidFill>
                  <a:schemeClr val="tx1">
                    <a:lumMod val="85000"/>
                  </a:schemeClr>
                </a:solidFill>
              </a:rPr>
              <a:t>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346" y="2096064"/>
            <a:ext cx="7765322" cy="3864898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Created measures:</a:t>
            </a:r>
            <a:endParaRPr lang="en-IN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Total Employees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			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Attrition Count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Attrition Rate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				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Average Employee 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A5DA3-795D-3835-D629-B5352B48E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56550" cy="7957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894A31E-9860-BFA8-4283-049AAC586526}"/>
              </a:ext>
            </a:extLst>
          </p:cNvPr>
          <p:cNvSpPr/>
          <p:nvPr/>
        </p:nvSpPr>
        <p:spPr>
          <a:xfrm>
            <a:off x="1615440" y="1325834"/>
            <a:ext cx="8229600" cy="449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 HR Attrition Overview</a:t>
            </a:r>
            <a:endParaRPr lang="en-US" sz="24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61AC55-E120-5FF0-2833-B03701345E01}"/>
              </a:ext>
            </a:extLst>
          </p:cNvPr>
          <p:cNvSpPr/>
          <p:nvPr/>
        </p:nvSpPr>
        <p:spPr>
          <a:xfrm>
            <a:off x="1706880" y="3623631"/>
            <a:ext cx="5303520" cy="359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Overview Page ]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CB686F-5AB6-F758-238D-02E0E5B7DC69}"/>
              </a:ext>
            </a:extLst>
          </p:cNvPr>
          <p:cNvSpPr/>
          <p:nvPr/>
        </p:nvSpPr>
        <p:spPr>
          <a:xfrm>
            <a:off x="7193280" y="2159798"/>
            <a:ext cx="3108960" cy="314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AF52C6F-2E46-BBBB-6F24-D06CF6304DCC}"/>
              </a:ext>
            </a:extLst>
          </p:cNvPr>
          <p:cNvSpPr/>
          <p:nvPr/>
        </p:nvSpPr>
        <p:spPr>
          <a:xfrm>
            <a:off x="7193280" y="2568899"/>
            <a:ext cx="182880" cy="179709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543C47-5857-A05D-9BE8-8EF088F96860}"/>
              </a:ext>
            </a:extLst>
          </p:cNvPr>
          <p:cNvSpPr/>
          <p:nvPr/>
        </p:nvSpPr>
        <p:spPr>
          <a:xfrm>
            <a:off x="7467600" y="2544321"/>
            <a:ext cx="2834640" cy="341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Count, Attrition Rate , 	         Average Age , Employees Left</a:t>
            </a:r>
            <a:endParaRPr lang="en-US" sz="1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4FE848D-BC97-0A03-7E5F-16AFB6A69E49}"/>
              </a:ext>
            </a:extLst>
          </p:cNvPr>
          <p:cNvSpPr/>
          <p:nvPr/>
        </p:nvSpPr>
        <p:spPr>
          <a:xfrm>
            <a:off x="7193280" y="2989523"/>
            <a:ext cx="182880" cy="179709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0E3369F-94C8-299B-6BEB-70ADDA236469}"/>
              </a:ext>
            </a:extLst>
          </p:cNvPr>
          <p:cNvSpPr/>
          <p:nvPr/>
        </p:nvSpPr>
        <p:spPr>
          <a:xfrm>
            <a:off x="7467599" y="2945821"/>
            <a:ext cx="2834640" cy="341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Job Role</a:t>
            </a:r>
            <a:endParaRPr lang="en-US" sz="1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B6E79B4-4A38-9CD4-0B1C-2B75DB9B09D4}"/>
              </a:ext>
            </a:extLst>
          </p:cNvPr>
          <p:cNvSpPr/>
          <p:nvPr/>
        </p:nvSpPr>
        <p:spPr>
          <a:xfrm>
            <a:off x="7193280" y="3410147"/>
            <a:ext cx="182880" cy="179709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80E79B9-8D3C-EA8B-D7CD-4E9A46748475}"/>
              </a:ext>
            </a:extLst>
          </p:cNvPr>
          <p:cNvSpPr/>
          <p:nvPr/>
        </p:nvSpPr>
        <p:spPr>
          <a:xfrm>
            <a:off x="7467600" y="3303634"/>
            <a:ext cx="2834640" cy="341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Age Group </a:t>
            </a:r>
            <a:endParaRPr lang="en-US" sz="1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2BD649E-3700-8178-0A75-11E7C186C85A}"/>
              </a:ext>
            </a:extLst>
          </p:cNvPr>
          <p:cNvSpPr/>
          <p:nvPr/>
        </p:nvSpPr>
        <p:spPr>
          <a:xfrm>
            <a:off x="7193280" y="3830771"/>
            <a:ext cx="182880" cy="179709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346F011-9292-B42B-48FE-DFE3E07F8FCD}"/>
              </a:ext>
            </a:extLst>
          </p:cNvPr>
          <p:cNvSpPr/>
          <p:nvPr/>
        </p:nvSpPr>
        <p:spPr>
          <a:xfrm>
            <a:off x="7467599" y="3713766"/>
            <a:ext cx="2834640" cy="341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Gender</a:t>
            </a:r>
            <a:endParaRPr lang="en-US" sz="1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158DD0A-00B5-D601-1021-44C94841CC1B}"/>
              </a:ext>
            </a:extLst>
          </p:cNvPr>
          <p:cNvSpPr/>
          <p:nvPr/>
        </p:nvSpPr>
        <p:spPr>
          <a:xfrm>
            <a:off x="7193280" y="4187890"/>
            <a:ext cx="182880" cy="179709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7E8A21D-7006-ECAB-5080-C7E275DD6AE2}"/>
              </a:ext>
            </a:extLst>
          </p:cNvPr>
          <p:cNvSpPr/>
          <p:nvPr/>
        </p:nvSpPr>
        <p:spPr>
          <a:xfrm>
            <a:off x="7467600" y="4533825"/>
            <a:ext cx="2834640" cy="341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Job Role / Gender</a:t>
            </a:r>
            <a:endParaRPr lang="en-US" sz="1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19D6E0C-7CF9-96B7-BD56-5CB50D2FB27A}"/>
              </a:ext>
            </a:extLst>
          </p:cNvPr>
          <p:cNvSpPr/>
          <p:nvPr/>
        </p:nvSpPr>
        <p:spPr>
          <a:xfrm>
            <a:off x="7193280" y="4976985"/>
            <a:ext cx="3108960" cy="269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3B621B2-608B-4DCE-0105-8F1FEC490E63}"/>
              </a:ext>
            </a:extLst>
          </p:cNvPr>
          <p:cNvSpPr/>
          <p:nvPr/>
        </p:nvSpPr>
        <p:spPr>
          <a:xfrm>
            <a:off x="7193279" y="5339683"/>
            <a:ext cx="3108960" cy="7637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050" i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that employee attrition is higher in certain departments and job roles. Younger Employee with lower job satisfaction show higher chances of leaving the organization”</a:t>
            </a:r>
            <a:endParaRPr lang="en-US" sz="10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9D28E8F-F923-78C6-659D-D11A3E475DF5}"/>
              </a:ext>
            </a:extLst>
          </p:cNvPr>
          <p:cNvSpPr/>
          <p:nvPr/>
        </p:nvSpPr>
        <p:spPr>
          <a:xfrm flipH="1">
            <a:off x="10302240" y="5862325"/>
            <a:ext cx="45719" cy="269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B85C77-7A0B-67F5-087F-0E429CF31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67" y="0"/>
            <a:ext cx="3254478" cy="80051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618ACF-B976-62AA-EBAD-BBDF6000C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81" y="1877961"/>
            <a:ext cx="6650539" cy="41795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F1AAAC4-9DE6-35AB-EDCE-256FB271D700}"/>
              </a:ext>
            </a:extLst>
          </p:cNvPr>
          <p:cNvSpPr txBox="1"/>
          <p:nvPr/>
        </p:nvSpPr>
        <p:spPr>
          <a:xfrm>
            <a:off x="7467600" y="4154481"/>
            <a:ext cx="33523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Count By Department</a:t>
            </a:r>
            <a:endParaRPr lang="en-US" sz="1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E9351506-A4F4-6F1F-CC3F-12641B097F7B}"/>
              </a:ext>
            </a:extLst>
          </p:cNvPr>
          <p:cNvSpPr/>
          <p:nvPr/>
        </p:nvSpPr>
        <p:spPr>
          <a:xfrm>
            <a:off x="7197213" y="4631669"/>
            <a:ext cx="182880" cy="179709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03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dirty="0">
                <a:solidFill>
                  <a:schemeClr val="tx1">
                    <a:lumMod val="85000"/>
                  </a:schemeClr>
                </a:solidFill>
              </a:rPr>
              <a:t>Dashboard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Dashboard contains: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 KPI Cards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 Department Attrition Donut Chart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 Age Group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 Job Role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 Salary Impact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Interactive Slicers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FA54D1-7215-030E-5C5C-A9624331B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" y="8721"/>
            <a:ext cx="3238563" cy="795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dirty="0">
                <a:solidFill>
                  <a:schemeClr val="tx1">
                    <a:lumMod val="85000"/>
                  </a:schemeClr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5174" y="1619573"/>
            <a:ext cx="7765322" cy="462882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High Employee Turnover in Specific Departments</a:t>
            </a:r>
            <a:endParaRPr lang="en-IN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Attrition is not evenly distributed across departments. Some departments experience higher employee turnover, indicating a need for targeted retention strategies.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Young Employees Show Higher Attrition</a:t>
            </a:r>
            <a:endParaRPr lang="en-IN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The 26–35 age group has the highest attrition count, suggesting early-career employees may have higher job mobility and require better engagement strategies.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Salary Level Impacts Employee Retention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Employees in the low salary group show higher attrition compared to higher salary groups, indicating compensation can be a major factor affecting retention</a:t>
            </a:r>
            <a:r>
              <a:rPr lang="en-IN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Certain Job Roles Have Higher Attrition Risk</a:t>
            </a:r>
            <a:endParaRPr lang="en-IN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Roles such as Sales Executive and Laboratory Technician show comparatively higher employee exits, highlighting positions where HR should focus on retention efforts.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Overall Workforce Stability Analysis</a:t>
            </a:r>
            <a:endParaRPr lang="en-IN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With 1,470 total employees and 237 employees leaving, the dashboard helps HR monitor workforce stability and identify areas needing improvement.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F34652-3E74-42EC-734B-5547325B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1"/>
            <a:ext cx="3238563" cy="7957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348" y="609602"/>
            <a:ext cx="7765321" cy="877823"/>
          </a:xfrm>
        </p:spPr>
        <p:txBody>
          <a:bodyPr/>
          <a:lstStyle/>
          <a:p>
            <a:r>
              <a:rPr sz="2000" dirty="0">
                <a:solidFill>
                  <a:schemeClr val="tx1">
                    <a:lumMod val="85000"/>
                  </a:schemeClr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577340"/>
            <a:ext cx="8450668" cy="4861560"/>
          </a:xfrm>
        </p:spPr>
        <p:txBody>
          <a:bodyPr>
            <a:normAutofit fontScale="62500" lnSpcReduction="20000"/>
          </a:bodyPr>
          <a:lstStyle/>
          <a:p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Challenges: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 Cleaning &amp; Preparation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Handling raw HR dataset and ensuring data quality before visualization.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Removing unnecessary data and correcting data formats.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Creating Meaningful DAX Measures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Building accurate calculations for: </a:t>
            </a:r>
          </a:p>
          <a:p>
            <a:pPr lvl="1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Total Employees </a:t>
            </a:r>
          </a:p>
          <a:p>
            <a:pPr lvl="1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Attrition Count </a:t>
            </a:r>
          </a:p>
          <a:p>
            <a:pPr lvl="1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Attrition Rate </a:t>
            </a:r>
          </a:p>
          <a:p>
            <a:pPr lvl="1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Average Employee Age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Designing an Effective Dashboard Layout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Selecting suitable charts and arranging visuals to make insights clear and easy to understand.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Managing Interactive Filters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Creating slicers and ensuring they correctly filter all dashboard visuals.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 Interpretation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Converting raw employee data into meaningful business insights for HR decision-making.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C948B-7770-6112-22F0-2E374F50E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8719"/>
            <a:ext cx="3376215" cy="7957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9C83F16-A3F6-1737-99FB-28B89670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348" y="589936"/>
            <a:ext cx="7765321" cy="934066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</a:schemeClr>
                </a:solidFill>
              </a:rPr>
              <a:t>LEARNING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5CC7AA3-E3B3-68CB-96A3-CFB9B09BD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48697"/>
            <a:ext cx="9045677" cy="5609303"/>
          </a:xfrm>
        </p:spPr>
        <p:txBody>
          <a:bodyPr>
            <a:normAutofit fontScale="92500" lnSpcReduction="20000"/>
          </a:bodyPr>
          <a:lstStyle/>
          <a:p>
            <a:r>
              <a:rPr lang="en-IN" sz="29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Key Learnings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</a:t>
            </a: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Power BI Dashboard Development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Learned how to create interactive dashboards using different visuals and KPIs.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</a:t>
            </a: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 Transformation using Power Query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Learned data cleaning, formatting, and preparing datasets for analysis.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DAX &amp; Analytical Thinking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Improved understanding of creating measures and performing calculations in Power BI.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 Visualization &amp; Storytelling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Learned how to present complex data in a simple and meaningful way.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Business Problem Solving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Learned how analytics can help HR teams identify attrition patterns and improve employee retention strategies.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64F74F-FEFE-EAD0-EA5B-B55E4CC90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76215" cy="79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48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dirty="0">
                <a:solidFill>
                  <a:schemeClr val="tx1">
                    <a:lumMod val="85000"/>
                  </a:schemeClr>
                </a:solidFill>
              </a:rP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0250" y="1935922"/>
            <a:ext cx="9147749" cy="49220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This project successfully created an interactive HR Attrition Dashboard using Power BI to analyze employee turnover patterns. It provides meaningful insights through data visualization and helps HR teams make data-driven decisions for improving employee retention.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Future scope: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Employee attrition prediction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Advanced HR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87CDD-2E7A-BB8B-EE61-DA53BBF9C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1"/>
            <a:ext cx="3258227" cy="79579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1678</TotalTime>
  <Words>827</Words>
  <Application>Microsoft Office PowerPoint</Application>
  <PresentationFormat>Widescreen</PresentationFormat>
  <Paragraphs>141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Baskerville Old Face</vt:lpstr>
      <vt:lpstr>Bookman Old Style</vt:lpstr>
      <vt:lpstr>Calibri</vt:lpstr>
      <vt:lpstr>Cambria</vt:lpstr>
      <vt:lpstr>Rockwell</vt:lpstr>
      <vt:lpstr>Wingdings</vt:lpstr>
      <vt:lpstr>Damask</vt:lpstr>
      <vt:lpstr>POWER BI PROJECT  HR  Attrition &amp; Employee Overview Dashboard</vt:lpstr>
      <vt:lpstr>Agenda</vt:lpstr>
      <vt:lpstr>Problem Statement &amp; Objective</vt:lpstr>
      <vt:lpstr>Dataset Overview</vt:lpstr>
      <vt:lpstr>PowerPoint Presentation</vt:lpstr>
      <vt:lpstr>Power Query Cleaning</vt:lpstr>
      <vt:lpstr>DAX Measures</vt:lpstr>
      <vt:lpstr>PowerPoint Presentation</vt:lpstr>
      <vt:lpstr>Dashboard Walkthrough</vt:lpstr>
      <vt:lpstr>Key Insights</vt:lpstr>
      <vt:lpstr>Challenges</vt:lpstr>
      <vt:lpstr>LEARNING</vt:lpstr>
      <vt:lpstr>Conclusion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Ravish Sharma</dc:creator>
  <cp:keywords/>
  <dc:description>generated using python-pptx</dc:description>
  <cp:lastModifiedBy>Ravish Sharma</cp:lastModifiedBy>
  <cp:revision>6</cp:revision>
  <dcterms:created xsi:type="dcterms:W3CDTF">2013-01-27T09:14:16Z</dcterms:created>
  <dcterms:modified xsi:type="dcterms:W3CDTF">2026-07-02T08:41:32Z</dcterms:modified>
  <cp:category/>
</cp:coreProperties>
</file>